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</a:rPr>
              <a:t>AETHER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4F195"/>
                </a:solidFill>
              </a:rPr>
              <a:t>Autonomous Agent Ecosystem SDK for Solana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3840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</a:rPr>
              <a:t>A Production-Ready SDK for Agent-to-Agent Payments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</a:rPr>
              <a:t>and Communication on the Solana Blockchain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5029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D4FF"/>
                </a:solidFill>
              </a:rPr>
              <a:t>github.com/4n0nn43x/Aether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9945FF"/>
                </a:solidFill>
              </a:rPr>
              <a:t>PROJECT OVERVIEW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</a:rPr>
              <a:t>What is Aether?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7680960" cy="731520"/>
          </a:xfrm>
          <a:prstGeom prst="rect">
            <a:avLst/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Aether is a TypeScript SDK that enables autonomous AI agents to communicate, negotiate, and execute micropayments on the Solana blockchain using the x402 Payment Protocol.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</a:rPr>
              <a:t>Key Capabilities: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83464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Agent-to-Agent (A2A) Communication Protocol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x402 HTTP Payment Protocol Integration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Solana Blockchain Integration (USDC &amp; SPL Tokens)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Autonomous Payment Settlement (&lt;400ms)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LLM-Powered Decision Making (LangChain Integration)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Production-Ready TypeScript SDK with Full Type Safety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286000" y="5029200"/>
            <a:ext cx="4572000" cy="365760"/>
          </a:xfrm>
          <a:prstGeom prst="rect">
            <a:avLst/>
          </a:prstGeom>
          <a:solidFill>
            <a:srgbClr val="14F19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Status: v1.0.5 - Production Ready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9945FF"/>
                </a:solidFill>
              </a:rPr>
              <a:t>PROBLEM STATEMENT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</a:rPr>
              <a:t>The Challenge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3474720" cy="1371600"/>
          </a:xfrm>
          <a:prstGeom prst="rect">
            <a:avLst/>
          </a:prstGeom>
          <a:solidFill>
            <a:srgbClr val="F5F5F5"/>
          </a:solidFill>
          <a:ln w="25400">
            <a:solidFill>
              <a:srgbClr val="994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83080"/>
            <a:ext cx="548640" cy="548640"/>
          </a:xfrm>
          <a:prstGeom prst="ellipse">
            <a:avLst/>
          </a:prstGeom>
          <a:solidFill>
            <a:srgbClr val="9945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645920" y="1828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No Standard for Agent Payments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28600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AI agents lack a standardized protocol for autonomous financial transactions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645920"/>
            <a:ext cx="3474720" cy="1371600"/>
          </a:xfrm>
          <a:prstGeom prst="rect">
            <a:avLst/>
          </a:prstGeom>
          <a:solidFill>
            <a:srgbClr val="F5F5F5"/>
          </a:solidFill>
          <a:ln w="25400">
            <a:solidFill>
              <a:srgbClr val="9945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783080"/>
            <a:ext cx="548640" cy="548640"/>
          </a:xfrm>
          <a:prstGeom prst="ellipse">
            <a:avLst/>
          </a:prstGeom>
          <a:solidFill>
            <a:srgbClr val="9945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5669280" y="1828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Human Intervention Required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228600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Traditional payment systems require manual approval for every transaction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3657600"/>
            <a:ext cx="3474720" cy="1371600"/>
          </a:xfrm>
          <a:prstGeom prst="rect">
            <a:avLst/>
          </a:prstGeom>
          <a:solidFill>
            <a:srgbClr val="F5F5F5"/>
          </a:solidFill>
          <a:ln w="25400">
            <a:solidFill>
              <a:srgbClr val="9945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794760"/>
            <a:ext cx="548640" cy="548640"/>
          </a:xfrm>
          <a:prstGeom prst="ellipse">
            <a:avLst/>
          </a:prstGeom>
          <a:solidFill>
            <a:srgbClr val="9945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3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1645920" y="3840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High Transaction Costs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429768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Legacy payment rails charge $2-3 fees, making micropayments impossible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3657600"/>
            <a:ext cx="3474720" cy="1371600"/>
          </a:xfrm>
          <a:prstGeom prst="rect">
            <a:avLst/>
          </a:prstGeom>
          <a:solidFill>
            <a:srgbClr val="F5F5F5"/>
          </a:solidFill>
          <a:ln w="25400">
            <a:solidFill>
              <a:srgbClr val="9945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3794760"/>
            <a:ext cx="548640" cy="548640"/>
          </a:xfrm>
          <a:prstGeom prst="ellipse">
            <a:avLst/>
          </a:prstGeom>
          <a:solidFill>
            <a:srgbClr val="9945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4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5669280" y="3840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Slow Settlement Times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37760" y="429768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Existing solutions take minutes to days for payment finality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9945FF"/>
                </a:solidFill>
              </a:rPr>
              <a:t>SOLUTION ARCHITECTURE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</a:rPr>
              <a:t>How Aether Solves These Challenges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371600" y="1645920"/>
            <a:ext cx="6400800" cy="640080"/>
          </a:xfrm>
          <a:prstGeom prst="rect">
            <a:avLst/>
          </a:prstGeom>
          <a:solidFill>
            <a:srgbClr val="E3F2FD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54480" y="173736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SDK Entry Point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554480" y="2011680"/>
            <a:ext cx="6035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33333"/>
                </a:solidFill>
              </a:rPr>
              <a:t>SettlementAgent, Exports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371600" y="2377440"/>
            <a:ext cx="6400800" cy="640080"/>
          </a:xfrm>
          <a:prstGeom prst="rect">
            <a:avLst/>
          </a:prstGeom>
          <a:solidFill>
            <a:srgbClr val="C5E1A5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54480" y="246888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Agents Layer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54480" y="2743200"/>
            <a:ext cx="6035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33333"/>
                </a:solidFill>
              </a:rPr>
              <a:t>SettlementAgent (Autonomous Execution)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371600" y="3108960"/>
            <a:ext cx="6400800" cy="640080"/>
          </a:xfrm>
          <a:prstGeom prst="rect">
            <a:avLst/>
          </a:prstGeom>
          <a:solidFill>
            <a:srgbClr val="FFF9C4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54480" y="320040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x402 Facilitator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54480" y="3474720"/>
            <a:ext cx="6035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33333"/>
                </a:solidFill>
              </a:rPr>
              <a:t>Payment Verification &amp; Authorization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371600" y="3840480"/>
            <a:ext cx="6400800" cy="640080"/>
          </a:xfrm>
          <a:prstGeom prst="rect">
            <a:avLst/>
          </a:prstGeom>
          <a:solidFill>
            <a:srgbClr val="FFCCBC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54480" y="393192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Protocol Layer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54480" y="4206240"/>
            <a:ext cx="6035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33333"/>
                </a:solidFill>
              </a:rPr>
              <a:t>A2A Protocol, AP2 Protocol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371600" y="4572000"/>
            <a:ext cx="6400800" cy="640080"/>
          </a:xfrm>
          <a:prstGeom prst="rect">
            <a:avLst/>
          </a:prstGeom>
          <a:solidFill>
            <a:srgbClr val="D1C4E9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54480" y="466344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Blockchain Layer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554480" y="4937760"/>
            <a:ext cx="6035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33333"/>
                </a:solidFill>
              </a:rPr>
              <a:t>Solana Web3.js, SPL Token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9945FF"/>
                </a:solidFill>
              </a:rPr>
              <a:t>CORE TECHNOLOGIES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</a:rPr>
              <a:t>Technology Stack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2743200" cy="2926080"/>
          </a:xfrm>
          <a:prstGeom prst="rect">
            <a:avLst/>
          </a:prstGeom>
          <a:solidFill>
            <a:srgbClr val="E3F2FD"/>
          </a:solidFill>
          <a:ln w="25400">
            <a:solidFill>
              <a:srgbClr val="6666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7373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Solana Blockchain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• 400ms finality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7432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• $0.00025 per transaction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3200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• Native USDC support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657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• High throughput (65k TPS)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83280" y="1645920"/>
            <a:ext cx="2743200" cy="2926080"/>
          </a:xfrm>
          <a:prstGeom prst="rect">
            <a:avLst/>
          </a:prstGeom>
          <a:solidFill>
            <a:srgbClr val="E8F5E9"/>
          </a:solidFill>
          <a:ln w="25400">
            <a:solidFill>
              <a:srgbClr val="6666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17373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x402 Protocol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66160" y="22860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• HTTP 402 standard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66160" y="27432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• Payment Required status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66160" y="3200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• Autonomous authorization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66160" y="3657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• Millisecond settlement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09360" y="1645920"/>
            <a:ext cx="2743200" cy="2926080"/>
          </a:xfrm>
          <a:prstGeom prst="rect">
            <a:avLst/>
          </a:prstGeom>
          <a:solidFill>
            <a:srgbClr val="FFF9C4"/>
          </a:solidFill>
          <a:ln w="25400">
            <a:solidFill>
              <a:srgbClr val="6666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17373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TypeScript SDK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92240" y="22860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• Full type safety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92240" y="27432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• Modular architecture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92240" y="3200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• Tree-shaking support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92240" y="3657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• Production-ready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20" y="48463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Additional Technologies: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31520" y="52120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LangChain (LLM Integration) • Axios (HTTP Client) • bs58 (Encoding) • Chalk (CLI)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9945FF"/>
                </a:solidFill>
              </a:rPr>
              <a:t>x402 PAYMENT PROTOCOL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</a:rPr>
              <a:t>HTTP 402: Payment Required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7680960" cy="640080"/>
          </a:xfrm>
          <a:prstGeom prst="rect">
            <a:avLst/>
          </a:prstGeom>
          <a:solidFill>
            <a:srgbClr val="FFF4E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3333"/>
                </a:solidFill>
              </a:rPr>
              <a:t>The x402 protocol activates the dormant HTTP 402 status code (reserved since 1999)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333333"/>
                </a:solidFill>
              </a:rPr>
              <a:t>to enable APIs and web services to require payment before serving content.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</a:rPr>
              <a:t>Payment Flow: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2926080"/>
            <a:ext cx="1920240" cy="1188720"/>
          </a:xfrm>
          <a:prstGeom prst="rect">
            <a:avLst/>
          </a:prstGeom>
          <a:solidFill>
            <a:srgbClr val="F5F5F5"/>
          </a:solidFill>
          <a:ln w="25400">
            <a:solidFill>
              <a:srgbClr val="14F19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3017520"/>
            <a:ext cx="457200" cy="457200"/>
          </a:xfrm>
          <a:prstGeom prst="ellipse">
            <a:avLst/>
          </a:prstGeom>
          <a:solidFill>
            <a:srgbClr val="9945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35661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Request Resource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384048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Agent requests paid API/service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697480" y="33832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945FF"/>
                </a:solidFill>
              </a:rPr>
              <a:t>→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2788920" y="2926080"/>
            <a:ext cx="1920240" cy="1188720"/>
          </a:xfrm>
          <a:prstGeom prst="rect">
            <a:avLst/>
          </a:prstGeom>
          <a:solidFill>
            <a:srgbClr val="F5F5F5"/>
          </a:solidFill>
          <a:ln w="25400">
            <a:solidFill>
              <a:srgbClr val="14F19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0" y="3017520"/>
            <a:ext cx="457200" cy="457200"/>
          </a:xfrm>
          <a:prstGeom prst="ellipse">
            <a:avLst/>
          </a:prstGeom>
          <a:solidFill>
            <a:srgbClr val="9945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880360" y="35661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Receive 402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880360" y="384048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Server responds with payment details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54880" y="33832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945FF"/>
                </a:solidFill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4846320" y="2926080"/>
            <a:ext cx="1920240" cy="1188720"/>
          </a:xfrm>
          <a:prstGeom prst="rect">
            <a:avLst/>
          </a:prstGeom>
          <a:solidFill>
            <a:srgbClr val="F5F5F5"/>
          </a:solidFill>
          <a:ln w="25400">
            <a:solidFill>
              <a:srgbClr val="14F19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83480" y="3017520"/>
            <a:ext cx="457200" cy="457200"/>
          </a:xfrm>
          <a:prstGeom prst="ellipse">
            <a:avLst/>
          </a:prstGeom>
          <a:solidFill>
            <a:srgbClr val="9945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937760" y="35661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Execute Payment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384048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Agent pays via Solana (USDC)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12280" y="33832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945FF"/>
                </a:solidFill>
              </a:rPr>
              <a:t>→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6903720" y="2926080"/>
            <a:ext cx="1920240" cy="1188720"/>
          </a:xfrm>
          <a:prstGeom prst="rect">
            <a:avLst/>
          </a:prstGeom>
          <a:solidFill>
            <a:srgbClr val="F5F5F5"/>
          </a:solidFill>
          <a:ln w="25400">
            <a:solidFill>
              <a:srgbClr val="14F19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40880" y="3017520"/>
            <a:ext cx="457200" cy="457200"/>
          </a:xfrm>
          <a:prstGeom prst="ellipse">
            <a:avLst/>
          </a:prstGeom>
          <a:solidFill>
            <a:srgbClr val="9945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4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995160" y="35661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Verify &amp; Deliver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995160" y="384048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Payment verified, resource delivered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31520" y="44805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Benefits: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14400" y="48463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Autonomous: No human intervention required</a:t>
            </a:r>
            <a:endParaRPr lang="en-US" sz="13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Fast: Sub-second settlement on Solana</a:t>
            </a:r>
            <a:endParaRPr lang="en-US" sz="13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Economical: Micropayments viable ($0.00025 tx cost)</a:t>
            </a:r>
            <a:endParaRPr lang="en-US" sz="13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Standard: Built on HTTP protocol, universally compatible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9945FF"/>
                </a:solidFill>
              </a:rPr>
              <a:t>AGENT-TO-AGENT PROTOCOL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</a:rPr>
              <a:t>A2A Communication Standard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7680960" cy="548640"/>
          </a:xfrm>
          <a:prstGeom prst="rect">
            <a:avLst/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3333"/>
                </a:solidFill>
              </a:rPr>
              <a:t>The A2A protocol enables standardized communication between autonomous agents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333333"/>
                </a:solidFill>
              </a:rPr>
              <a:t>using JSON-RPC based messaging with built-in task management.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468880" cy="2103120"/>
          </a:xfrm>
          <a:prstGeom prst="rect">
            <a:avLst/>
          </a:prstGeom>
          <a:solidFill>
            <a:srgbClr val="F3E5F5"/>
          </a:solidFill>
          <a:ln w="25400">
            <a:solidFill>
              <a:srgbClr val="9945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3774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Message Types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9260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• Task requests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2918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• Status updates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36576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• Negotiation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40233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• Payment authorization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74720" y="2286000"/>
            <a:ext cx="2468880" cy="2103120"/>
          </a:xfrm>
          <a:prstGeom prst="rect">
            <a:avLst/>
          </a:prstGeom>
          <a:solidFill>
            <a:srgbClr val="F3E5F5"/>
          </a:solidFill>
          <a:ln w="25400">
            <a:solidFill>
              <a:srgbClr val="9945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0" y="23774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Communication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0" y="29260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• Async messaging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0" y="32918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• JSON-RPC format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0" y="36576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• Event-driven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0" y="40233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• Type-safe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17920" y="2286000"/>
            <a:ext cx="2468880" cy="2103120"/>
          </a:xfrm>
          <a:prstGeom prst="rect">
            <a:avLst/>
          </a:prstGeom>
          <a:solidFill>
            <a:srgbClr val="F3E5F5"/>
          </a:solidFill>
          <a:ln w="25400">
            <a:solidFill>
              <a:srgbClr val="9945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23774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Task Management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00800" y="29260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• Task creation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0" y="32918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• Progress tracking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0" y="36576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• Result delivery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0" y="40233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• Error handling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1520" y="46634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Example Use Case: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31520" y="5029200"/>
            <a:ext cx="7680960" cy="548640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Agent A requests data analysis → Agent B receives task → Negotiates price via A2A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→ Agent A approves via x402 → Payment settles on Solana → Agent B delivers results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9945FF"/>
                </a:solidFill>
              </a:rPr>
              <a:t>KEY FEATURES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</a:rPr>
              <a:t>What Makes Aether Unique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560320" cy="1371600"/>
          </a:xfrm>
          <a:prstGeom prst="rect">
            <a:avLst/>
          </a:prstGeom>
          <a:solidFill>
            <a:srgbClr val="F5F5F5"/>
          </a:solidFill>
          <a:ln w="25400">
            <a:solidFill>
              <a:srgbClr val="14F19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⚡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280160" y="18288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Lightning Fast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Sub-400ms payment settlement using Solana's high-performance blockchain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1645920"/>
            <a:ext cx="2560320" cy="1371600"/>
          </a:xfrm>
          <a:prstGeom prst="rect">
            <a:avLst/>
          </a:prstGeom>
          <a:solidFill>
            <a:srgbClr val="F5F5F5"/>
          </a:solidFill>
          <a:ln w="25400">
            <a:solidFill>
              <a:srgbClr val="14F19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💰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023360" y="18288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Micropayment Ready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74720" y="22860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$0.00025 transaction costs make micropayments economically viable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35040" y="1645920"/>
            <a:ext cx="2560320" cy="1371600"/>
          </a:xfrm>
          <a:prstGeom prst="rect">
            <a:avLst/>
          </a:prstGeom>
          <a:solidFill>
            <a:srgbClr val="F5F5F5"/>
          </a:solidFill>
          <a:ln w="25400">
            <a:solidFill>
              <a:srgbClr val="14F19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🤖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766560" y="18288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Fully Autonomous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0" y="22860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Agents negotiate, verify, and settle payments without human intervention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657600"/>
            <a:ext cx="2560320" cy="1371600"/>
          </a:xfrm>
          <a:prstGeom prst="rect">
            <a:avLst/>
          </a:prstGeom>
          <a:solidFill>
            <a:srgbClr val="F5F5F5"/>
          </a:solidFill>
          <a:ln w="25400">
            <a:solidFill>
              <a:srgbClr val="14F19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749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🔒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1280160" y="3840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Secure &amp; Reliable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1520" y="429768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Built on Solana security, full type safety, production-grade error handling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91840" y="3657600"/>
            <a:ext cx="2560320" cy="1371600"/>
          </a:xfrm>
          <a:prstGeom prst="rect">
            <a:avLst/>
          </a:prstGeom>
          <a:solidFill>
            <a:srgbClr val="F5F5F5"/>
          </a:solidFill>
          <a:ln w="25400">
            <a:solidFill>
              <a:srgbClr val="14F19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3749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🔧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4023360" y="3840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Developer Friendly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474720" y="429768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TypeScript SDK with complete documentation, examples, and type definitions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35040" y="3657600"/>
            <a:ext cx="2560320" cy="1371600"/>
          </a:xfrm>
          <a:prstGeom prst="rect">
            <a:avLst/>
          </a:prstGeom>
          <a:solidFill>
            <a:srgbClr val="F5F5F5"/>
          </a:solidFill>
          <a:ln w="25400">
            <a:solidFill>
              <a:srgbClr val="14F19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0" y="3749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📡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6766560" y="3840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Protocol Standard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17920" y="429768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Implements x402 HTTP standard and A2A protocol for interoperability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9945FF"/>
                </a:solidFill>
              </a:rPr>
              <a:t>INSTALLATION &amp; USAGE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</a:rPr>
              <a:t>Getting Started with Aether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</a:rPr>
              <a:t>1. Installation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1920240"/>
            <a:ext cx="7315200" cy="4572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01168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F1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 aether-agent-sdk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5603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</a:rPr>
              <a:t>2. Quick Start Example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14400" y="2926080"/>
            <a:ext cx="7315200" cy="18288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3017520"/>
            <a:ext cx="6949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4F1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SettlementAgent } from 'aether-agent-sdk'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4F1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agent = new SettlementAgent()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4F1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agent.init()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4F1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txHash = await agent.executeSolanaTransfer(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4F1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'merchant_wallet_address',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4F1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1.0 // USDC amount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4F1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4F1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console.log(`Payment sent: ${txHash}`)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86000" y="5029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945FF"/>
                </a:solidFill>
              </a:rPr>
              <a:t>Documentation: github.com/4n0nn43x/Aether/docs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9945FF"/>
                </a:solidFill>
              </a:rPr>
              <a:t>DEMO ARCHITECTURE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</a:rPr>
              <a:t>Included Demo Implementations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3657600" cy="3200400"/>
          </a:xfrm>
          <a:prstGeom prst="rect">
            <a:avLst/>
          </a:prstGeom>
          <a:solidFill>
            <a:srgbClr val="E3F2FD"/>
          </a:solidFill>
          <a:ln w="25400">
            <a:solidFill>
              <a:srgbClr val="994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373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Solana x402 Payment Demo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2194560"/>
            <a:ext cx="3291840" cy="36576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28600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F1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demo:payment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27432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✓ Complete payment flow demonstration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31546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✓ USDC transfer on Solana devnet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35661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✓ x402 protocol integration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39776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✓ Transaction verification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1645920"/>
            <a:ext cx="3657600" cy="3200400"/>
          </a:xfrm>
          <a:prstGeom prst="rect">
            <a:avLst/>
          </a:prstGeom>
          <a:solidFill>
            <a:srgbClr val="E3F2FD"/>
          </a:solidFill>
          <a:ln w="25400">
            <a:solidFill>
              <a:srgbClr val="9945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17373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Agent Orchestrator Demo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937760" y="2194560"/>
            <a:ext cx="3291840" cy="36576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0" y="228600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F1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demo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0" y="27432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✓ Multi-agent communication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0" y="31546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✓ A2A protocol messaging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0" y="35661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✓ Task negotiation and execution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0" y="39776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✓ LLM-powered decision making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371600" y="51206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66666"/>
                </a:solidFill>
              </a:rPr>
              <a:t>Both demos include detailed logging, error handling, and transaction verification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9945FF"/>
                </a:solidFill>
              </a:rPr>
              <a:t>SDK MODULES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</a:rPr>
              <a:t>Modular Architecture for Flexibility</a:t>
            </a:r>
            <a:endParaRPr lang="en-US" sz="2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8229600" cy="27432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Module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Description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Main Exports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aether-agent-sdk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Main entry point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SettlementAgent, All core exports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aether-agent-sdk/agents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Agent implementations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SettlementAgent, BaseAgent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aether-agent-sdk/protocols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Communication protocols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A2AProtocol, AP2Protocol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aether-agent-sdk/services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Service layer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Payment services, Blockchain utils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aether-agent-sdk/facilitator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x402 facilitator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X402FacilitatorServer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aether-agent-sdk/modes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Operation modes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Mode configurations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371600" y="47548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945FF"/>
                </a:solidFill>
              </a:rPr>
              <a:t>Tree-shaking enabled: Import only what you need for optimal bundle size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9945FF"/>
                </a:solidFill>
              </a:rPr>
              <a:t>CONFIGURATION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</a:rPr>
              <a:t>Environment Setup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Required Environment Variables: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920240"/>
            <a:ext cx="69494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4F1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Solana Network Configuration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4F1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SOLANA_NETWORK=devnet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4F1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SOLANA_RPC_URL=https://api.devnet.solana.com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4F1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Wallet Configuration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4F1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AGENT_PRIVATE_KEY=your_base58_private_key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4F1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MERCHANT_WALLET_ADDRESS=merchant_wallet_address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4F1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Token Configuration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4F1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USDC_MINT=4zMMC9srt5Ri5X14GAgXhaHii3GnPAEERYPJgZJDncDU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4F1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Payment Settings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4F1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DEFAULT_PAYMENT_AMOUNT_USDC=1.0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828800" y="4846320"/>
            <a:ext cx="5486400" cy="274320"/>
          </a:xfrm>
          <a:prstGeom prst="rect">
            <a:avLst/>
          </a:prstGeom>
          <a:solidFill>
            <a:srgbClr val="9945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Copy .env.example to .env and configure with your credentials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9945FF"/>
                </a:solidFill>
              </a:rPr>
              <a:t>USE CASES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</a:rPr>
              <a:t>Real-World Applications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3657600" cy="1463040"/>
          </a:xfrm>
          <a:prstGeom prst="rect">
            <a:avLst/>
          </a:prstGeom>
          <a:solidFill>
            <a:srgbClr val="F5F5F5"/>
          </a:solidFill>
          <a:ln w="25400">
            <a:solidFill>
              <a:srgbClr val="994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🔬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463040" y="1874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</a:rPr>
              <a:t>AI Research Platforms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22860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• Autonomous compute resource purchasing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25603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• Real-time data feed subscriptions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28346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• Model API access payments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645920"/>
            <a:ext cx="3657600" cy="1463040"/>
          </a:xfrm>
          <a:prstGeom prst="rect">
            <a:avLst/>
          </a:prstGeom>
          <a:solidFill>
            <a:srgbClr val="F5F5F5"/>
          </a:solidFill>
          <a:ln w="25400">
            <a:solidFill>
              <a:srgbClr val="9945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💹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5486400" y="1874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</a:rPr>
              <a:t>Trading &amp; DeFi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29200" y="22860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• High-frequency arbitrage payments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0" y="25603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• Oracle data feed purchases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0" y="28346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• Cross-chain settlements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3566160"/>
            <a:ext cx="3657600" cy="1463040"/>
          </a:xfrm>
          <a:prstGeom prst="rect">
            <a:avLst/>
          </a:prstGeom>
          <a:solidFill>
            <a:srgbClr val="F5F5F5"/>
          </a:solidFill>
          <a:ln w="25400">
            <a:solidFill>
              <a:srgbClr val="9945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703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📰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1463040" y="3794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</a:rPr>
              <a:t>Content &amp; Media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05840" y="42062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• Per-article micropayments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05840" y="44805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• API monetization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05840" y="47548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• Image/video generation services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3566160"/>
            <a:ext cx="3657600" cy="1463040"/>
          </a:xfrm>
          <a:prstGeom prst="rect">
            <a:avLst/>
          </a:prstGeom>
          <a:solidFill>
            <a:srgbClr val="F5F5F5"/>
          </a:solidFill>
          <a:ln w="25400">
            <a:solidFill>
              <a:srgbClr val="9945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3703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🏢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5486400" y="3794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</a:rPr>
              <a:t>Enterprise AI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029200" y="42062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• B2B service procurement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0" y="44805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• Automated vendor payments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0" y="47548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• Supply chain settlements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9945FF"/>
                </a:solidFill>
              </a:rPr>
              <a:t>PERFORMANCE METRICS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</a:rPr>
              <a:t>Production Performance Benchmarks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371600"/>
          </a:xfrm>
          <a:prstGeom prst="rect">
            <a:avLst/>
          </a:prstGeom>
          <a:solidFill>
            <a:srgbClr val="E3F2FD"/>
          </a:solidFill>
          <a:ln w="25400">
            <a:solidFill>
              <a:srgbClr val="6666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288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2E"/>
                </a:solidFill>
              </a:rPr>
              <a:t>&lt;400ms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3317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3333"/>
                </a:solidFill>
              </a:rPr>
              <a:t>Transaction Settlement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6060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66666"/>
                </a:solidFill>
              </a:rPr>
              <a:t>Average finality time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83280" y="1645920"/>
            <a:ext cx="2468880" cy="1371600"/>
          </a:xfrm>
          <a:prstGeom prst="rect">
            <a:avLst/>
          </a:prstGeom>
          <a:solidFill>
            <a:srgbClr val="E8F5E9"/>
          </a:solidFill>
          <a:ln w="25400">
            <a:solidFill>
              <a:srgbClr val="6666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66160" y="18288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2E"/>
                </a:solidFill>
              </a:rPr>
              <a:t>$0.00025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566160" y="23317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3333"/>
                </a:solidFill>
              </a:rPr>
              <a:t>Transaction Cost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66160" y="26060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66666"/>
                </a:solidFill>
              </a:rPr>
              <a:t>Per transaction on Solana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35040" y="1645920"/>
            <a:ext cx="2468880" cy="1371600"/>
          </a:xfrm>
          <a:prstGeom prst="rect">
            <a:avLst/>
          </a:prstGeom>
          <a:solidFill>
            <a:srgbClr val="FFF9C4"/>
          </a:solidFill>
          <a:ln w="25400">
            <a:solidFill>
              <a:srgbClr val="6666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18288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2E"/>
                </a:solidFill>
              </a:rPr>
              <a:t>99.9%+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217920" y="23317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3333"/>
                </a:solidFill>
              </a:rPr>
              <a:t>Network Uptime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0" y="26060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66666"/>
                </a:solidFill>
              </a:rPr>
              <a:t>Solana network reliability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3566160"/>
            <a:ext cx="2468880" cy="1371600"/>
          </a:xfrm>
          <a:prstGeom prst="rect">
            <a:avLst/>
          </a:prstGeom>
          <a:solidFill>
            <a:srgbClr val="FFCCBC"/>
          </a:solidFill>
          <a:ln w="25400">
            <a:solidFill>
              <a:srgbClr val="6666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7490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2E"/>
                </a:solidFill>
              </a:rPr>
              <a:t>&lt;100ms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914400" y="42519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3333"/>
                </a:solidFill>
              </a:rPr>
              <a:t>SDK Initialization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" y="45262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66666"/>
                </a:solidFill>
              </a:rPr>
              <a:t>Cold start time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383280" y="3566160"/>
            <a:ext cx="2468880" cy="1371600"/>
          </a:xfrm>
          <a:prstGeom prst="rect">
            <a:avLst/>
          </a:prstGeom>
          <a:solidFill>
            <a:srgbClr val="F3E5F5"/>
          </a:solidFill>
          <a:ln w="25400">
            <a:solidFill>
              <a:srgbClr val="6666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66160" y="37490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2E"/>
                </a:solidFill>
              </a:rPr>
              <a:t>&lt;50MB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3566160" y="42519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3333"/>
                </a:solidFill>
              </a:rPr>
              <a:t>Memory Footprint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566160" y="45262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66666"/>
                </a:solidFill>
              </a:rPr>
              <a:t>Runtime memory usage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35040" y="3566160"/>
            <a:ext cx="2468880" cy="1371600"/>
          </a:xfrm>
          <a:prstGeom prst="rect">
            <a:avLst/>
          </a:prstGeom>
          <a:solidFill>
            <a:srgbClr val="C5E1A5"/>
          </a:solidFill>
          <a:ln w="25400">
            <a:solidFill>
              <a:srgbClr val="66666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0" y="37490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2E"/>
                </a:solidFill>
              </a:rPr>
              <a:t>1000+/s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6217920" y="42519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3333"/>
                </a:solidFill>
              </a:rPr>
              <a:t>Throughput Capacity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17920" y="45262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66666"/>
                </a:solidFill>
              </a:rPr>
              <a:t>Concurrent transactions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9945FF"/>
                </a:solidFill>
              </a:rPr>
              <a:t>SECURITY FEATURES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</a:rPr>
              <a:t>Built with Security Best Practices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7315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No Private Key Storage: Keys managed by users, never stored in SDK</a:t>
            </a:r>
            <a:endParaRPr lang="en-US" sz="15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Client-Side Signing: All transactions signed on client, never server</a:t>
            </a:r>
            <a:endParaRPr lang="en-US" sz="15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Environment Variable Security: Sensitive data in .env files (gitignored)</a:t>
            </a:r>
            <a:endParaRPr lang="en-US" sz="15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Type Safety: Full TypeScript coverage prevents runtime errors</a:t>
            </a:r>
            <a:endParaRPr lang="en-US" sz="15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Input Validation: All user inputs validated and sanitized</a:t>
            </a:r>
            <a:endParaRPr lang="en-US" sz="15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Error Handling: Comprehensive error catching and logging</a:t>
            </a:r>
            <a:endParaRPr lang="en-US" sz="15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Solana Security: Built on audited Solana Web3.js and SPL Token libraries</a:t>
            </a:r>
            <a:endParaRPr lang="en-US" sz="15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Network Isolation: Separate configs for devnet/testnet/mainnet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743200" y="4754880"/>
            <a:ext cx="3657600" cy="365760"/>
          </a:xfrm>
          <a:prstGeom prst="rect">
            <a:avLst/>
          </a:prstGeom>
          <a:solidFill>
            <a:srgbClr val="14F19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🔒 Production-Grade Security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9945FF"/>
                </a:solidFill>
              </a:rPr>
              <a:t>PROJECT ROADMAP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</a:rPr>
              <a:t>Future Development Plans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1828800" cy="3200400"/>
          </a:xfrm>
          <a:prstGeom prst="rect">
            <a:avLst/>
          </a:prstGeom>
          <a:solidFill>
            <a:srgbClr val="C8E6C9"/>
          </a:solidFill>
          <a:ln w="25400">
            <a:solidFill>
              <a:srgbClr val="6666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37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Q1 2025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148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66666"/>
                </a:solidFill>
              </a:rPr>
              <a:t>COMPLETED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" y="256032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✓ v1.0 Production launch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68680" y="301752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✓ Core SDK development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68680" y="347472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✓ Demo implementations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68680" y="393192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✓ Documentation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0" y="1645920"/>
            <a:ext cx="1828800" cy="3200400"/>
          </a:xfrm>
          <a:prstGeom prst="rect">
            <a:avLst/>
          </a:prstGeom>
          <a:solidFill>
            <a:srgbClr val="FFF9C4"/>
          </a:solidFill>
          <a:ln w="25400">
            <a:solidFill>
              <a:srgbClr val="6666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0" y="1737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Q2 2025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743200" y="2148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66666"/>
                </a:solidFill>
              </a:rPr>
              <a:t>IN PROGRESS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880360" y="256032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Agent marketplace development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880360" y="301752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Enhanced LLM integrations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880360" y="347472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Additional protocol support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880360" y="393192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Performance optimizations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54880" y="1645920"/>
            <a:ext cx="1828800" cy="3200400"/>
          </a:xfrm>
          <a:prstGeom prst="rect">
            <a:avLst/>
          </a:prstGeom>
          <a:solidFill>
            <a:srgbClr val="E1BEE7"/>
          </a:solidFill>
          <a:ln w="25400">
            <a:solidFill>
              <a:srgbClr val="6666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1737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Q3 2025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54880" y="2148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66666"/>
                </a:solidFill>
              </a:rPr>
              <a:t>PLANNED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92040" y="256032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Multi-chain support (Ethereum, Polygon)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92040" y="301752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Advanced agent reputation system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92040" y="347472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Enterprise features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92040" y="393192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Security audit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766560" y="1645920"/>
            <a:ext cx="1828800" cy="3200400"/>
          </a:xfrm>
          <a:prstGeom prst="rect">
            <a:avLst/>
          </a:prstGeom>
          <a:solidFill>
            <a:srgbClr val="BBDEFB"/>
          </a:solidFill>
          <a:ln w="25400">
            <a:solidFill>
              <a:srgbClr val="66666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66560" y="1737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Q4 2025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766560" y="2148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66666"/>
                </a:solidFill>
              </a:rPr>
              <a:t>PLANNED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903720" y="256032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Agent lending protocols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903720" y="301752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Cross-chain communication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903720" y="347472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Plugin ecosystem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903720" y="393192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Global marketplace launch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9945FF"/>
                </a:solidFill>
              </a:rPr>
              <a:t>CONTRIBUTING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</a:rPr>
              <a:t>Open Source &amp; Community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463040"/>
            <a:ext cx="7315200" cy="548640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Aether is open source under the MIT License.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We welcome contributions from the community!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468880" cy="1828800"/>
          </a:xfrm>
          <a:prstGeom prst="rect">
            <a:avLst/>
          </a:prstGeom>
          <a:solidFill>
            <a:srgbClr val="E3F2FD"/>
          </a:solidFill>
          <a:ln w="25400">
            <a:solidFill>
              <a:srgbClr val="9945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3774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</a:rPr>
              <a:t>Code Contributions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9260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• Bug fixes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2461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• New features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35661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• Performance improvements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38862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• Test coverage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74720" y="2286000"/>
            <a:ext cx="2468880" cy="1828800"/>
          </a:xfrm>
          <a:prstGeom prst="rect">
            <a:avLst/>
          </a:prstGeom>
          <a:solidFill>
            <a:srgbClr val="E3F2FD"/>
          </a:solidFill>
          <a:ln w="25400">
            <a:solidFill>
              <a:srgbClr val="9945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0" y="23774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</a:rPr>
              <a:t>Documentation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57600" y="29260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• Tutorials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0" y="32461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• API docs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0" y="35661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• Use case examples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0" y="38862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• Translations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17920" y="2286000"/>
            <a:ext cx="2468880" cy="1828800"/>
          </a:xfrm>
          <a:prstGeom prst="rect">
            <a:avLst/>
          </a:prstGeom>
          <a:solidFill>
            <a:srgbClr val="E3F2FD"/>
          </a:solidFill>
          <a:ln w="25400">
            <a:solidFill>
              <a:srgbClr val="9945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23774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</a:rPr>
              <a:t>Community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0" y="29260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• Issue reporting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0" y="32461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• Feature requests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0" y="35661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• Discussions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0" y="38862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• Code reviews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286000" y="4572000"/>
            <a:ext cx="4572000" cy="365760"/>
          </a:xfrm>
          <a:prstGeom prst="rect">
            <a:avLst/>
          </a:prstGeom>
          <a:solidFill>
            <a:srgbClr val="14F19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Visit github.com/4n0nn43x/Aether to get started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9945FF"/>
                </a:solidFill>
              </a:rPr>
              <a:t>RESOURCES &amp; LINKS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</a:rPr>
              <a:t>Learn More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📦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371600" y="1874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NPM Package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21488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4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 aether-agent-sdk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0" y="1828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💻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486400" y="1874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GitHub Repository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0" y="21488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4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github.com/4n0nn43x/Aether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2468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📚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371600" y="25146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Documentation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27889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4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github.com/4n0nn43x/Aether/docs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0" y="2468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🔧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486400" y="25146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Setup Guide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0" y="27889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4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docs/SETUP_GUIDE.md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3108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📖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371600" y="31546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API Reference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34290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4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docs/API_REFERENCE.md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0" y="3108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💡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5486400" y="31546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Usage Guide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0" y="34290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4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docs/USAGE_GUIDE.md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14400" y="3749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💳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371600" y="37947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x402 Guide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371600" y="40690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4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docs/X402_GUIDE.md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0" y="3749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🌐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5486400" y="37947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Solana x402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486400" y="40690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4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solana.com/x402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</a:rPr>
              <a:t>THANK YOU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4F195"/>
                </a:solidFill>
              </a:rPr>
              <a:t>AETHER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Autonomous Agent Ecosystem SDK for Solana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4FF"/>
                </a:solidFill>
              </a:rPr>
              <a:t>github.com/4n0nn43x/Aether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FFFFFF"/>
                </a:solidFill>
              </a:rPr>
              <a:t>Questions?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Aether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Aether - Project Presentation</dc:title>
  <dc:subject>Autonomous Agent Ecosystem SDK for Solana</dc:subject>
  <dc:creator>4n0nn43x</dc:creator>
  <cp:lastModifiedBy>4n0nn43x</cp:lastModifiedBy>
  <cp:revision>1</cp:revision>
  <dcterms:created xsi:type="dcterms:W3CDTF">2025-11-10T01:53:38Z</dcterms:created>
  <dcterms:modified xsi:type="dcterms:W3CDTF">2025-11-10T01:53:38Z</dcterms:modified>
</cp:coreProperties>
</file>